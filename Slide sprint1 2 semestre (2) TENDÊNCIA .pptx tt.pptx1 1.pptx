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2" r:id="rId6"/>
    <p:sldId id="258" r:id="rId7"/>
    <p:sldId id="264" r:id="rId8"/>
    <p:sldId id="263" r:id="rId9"/>
    <p:sldId id="266" r:id="rId10"/>
    <p:sldId id="265" r:id="rId11"/>
    <p:sldId id="259" r:id="rId12"/>
    <p:sldId id="260" r:id="rId13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7" autoAdjust="0"/>
  </p:normalViewPr>
  <p:slideViewPr>
    <p:cSldViewPr snapToGrid="0">
      <p:cViewPr varScale="1">
        <p:scale>
          <a:sx n="65" d="100"/>
          <a:sy n="65" d="100"/>
        </p:scale>
        <p:origin x="66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tec\Downloads\EXP_Aeronautico_SP_com_SH4_Desc_por_Ano%20C%20GRAF%20TENDENCI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pt-BR" sz="1800">
                <a:solidFill>
                  <a:srgbClr val="FF0000"/>
                </a:solidFill>
              </a:rPr>
              <a:t>Linha</a:t>
            </a:r>
            <a:r>
              <a:rPr lang="pt-BR" sz="1800" baseline="0">
                <a:solidFill>
                  <a:srgbClr val="FF0000"/>
                </a:solidFill>
              </a:rPr>
              <a:t> de Tendência </a:t>
            </a:r>
            <a:endParaRPr lang="pt-BR" sz="1800">
              <a:solidFill>
                <a:srgbClr val="FF0000"/>
              </a:solidFill>
            </a:endParaRPr>
          </a:p>
        </c:rich>
      </c:tx>
      <c:layout>
        <c:manualLayout>
          <c:xMode val="edge"/>
          <c:yMode val="edge"/>
          <c:x val="0.37998512186990296"/>
          <c:y val="2.77778682809537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3.5655855524921988E-2"/>
                  <c:y val="-2.1324358314381967E-3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</c:trendlineLbl>
          </c:trendline>
          <c:xVal>
            <c:numRef>
              <c:f>'2021'!$AA$121:$AA$125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2030</c:v>
                </c:pt>
              </c:numCache>
            </c:numRef>
          </c:xVal>
          <c:yVal>
            <c:numRef>
              <c:f>'2021'!$AB$121:$AB$125</c:f>
              <c:numCache>
                <c:formatCode>General</c:formatCode>
                <c:ptCount val="5"/>
                <c:pt idx="0">
                  <c:v>28405625.780219778</c:v>
                </c:pt>
                <c:pt idx="1">
                  <c:v>34825413.054878049</c:v>
                </c:pt>
                <c:pt idx="2">
                  <c:v>47210974.549019605</c:v>
                </c:pt>
                <c:pt idx="3">
                  <c:v>39308535.900958464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92D-45B7-8BDE-3B9EA3416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1833551"/>
        <c:axId val="1342948063"/>
      </c:scatterChart>
      <c:valAx>
        <c:axId val="1341833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400" dirty="0"/>
                  <a:t>Ano</a:t>
                </a:r>
              </a:p>
            </c:rich>
          </c:tx>
          <c:layout>
            <c:manualLayout>
              <c:xMode val="edge"/>
              <c:yMode val="edge"/>
              <c:x val="0.48121829475966404"/>
              <c:y val="0.934413954829502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2948063"/>
        <c:crosses val="autoZero"/>
        <c:crossBetween val="midCat"/>
      </c:valAx>
      <c:valAx>
        <c:axId val="1342948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400" dirty="0">
                    <a:solidFill>
                      <a:srgbClr val="FF0000"/>
                    </a:solidFill>
                  </a:rPr>
                  <a:t>VL</a:t>
                </a:r>
                <a:r>
                  <a:rPr lang="pt-BR" sz="1400" baseline="0" dirty="0">
                    <a:solidFill>
                      <a:srgbClr val="FF0000"/>
                    </a:solidFill>
                  </a:rPr>
                  <a:t> FOB</a:t>
                </a:r>
                <a:endParaRPr lang="pt-BR" sz="1400" dirty="0">
                  <a:solidFill>
                    <a:srgbClr val="FF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&quot;R$&quot;\ 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41833551"/>
        <c:crosses val="autoZero"/>
        <c:crossBetween val="midCat"/>
        <c:dispUnits>
          <c:builtInUnit val="millions"/>
          <c:dispUnitsLbl>
            <c:layout>
              <c:manualLayout>
                <c:xMode val="edge"/>
                <c:yMode val="edge"/>
                <c:x val="4.4742320369412843E-2"/>
                <c:y val="0.10518435225428931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pt-BR" sz="1400" dirty="0"/>
                    <a:t>Milhões de reais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9F1BE22-BD3B-4BA8-95EA-7296A8AA5B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B770D1-9BE8-4AC6-9AD5-C0F8842DA9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DF94E-9595-4903-9DDC-FDADCBF39DE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564C92-A1B1-4C40-AB8E-3EF83F2633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AC9FD2-4C64-4A97-8ED4-C91CF8701F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40FA-3B2C-4E13-BFFD-C11A22D11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0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2EF54-A1F6-4E34-830B-86C7368B97CA}" type="datetimeFigureOut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4D1C2-4E59-41B0-9C33-711FA5262530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8455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224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7149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54046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005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9234CA2-9F5E-48FA-843C-0B2031554A67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B1F27E-7DAF-45D3-90B3-991C8DB57655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C84BDBB-7383-475F-BEA4-6DEA016CA495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057F5-8FF5-4D8D-8D1D-AB2EA718C0A8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6DEE47-7D13-43F4-ABED-3A5080F68646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73E3D-DBBF-4A29-999A-7303C12DCD81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4E23CD-D9DA-4A76-9BB0-7BEF6E78EC36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782A511-DCA3-4DB1-B232-6DE9BF3E093E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46BD8-7B90-4F0C-B77B-34482E71BE4B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BE170-2D6A-4F23-959F-F3FDD7EE17C8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CF2502B-DA48-44EE-974F-4401E37897C2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D110607-227D-4A11-B3D0-0B2B6E648C32}" type="datetime1">
              <a:rPr lang="pt-BR" noProof="0" smtClean="0"/>
              <a:t>24/11/2025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EA6F3B9A-7EF8-9A06-513F-4B880BCD6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5863"/>
            <a:ext cx="12192000" cy="580445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CBEAC54-42D8-2270-752E-29BABCC0FCC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4908"/>
          <a:stretch/>
        </p:blipFill>
        <p:spPr>
          <a:xfrm>
            <a:off x="1180262" y="-1061061"/>
            <a:ext cx="9797605" cy="588538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15F739-1747-43CB-A8B0-01B1F9498E53}"/>
              </a:ext>
            </a:extLst>
          </p:cNvPr>
          <p:cNvSpPr txBox="1"/>
          <p:nvPr/>
        </p:nvSpPr>
        <p:spPr>
          <a:xfrm>
            <a:off x="3132134" y="4885921"/>
            <a:ext cx="5922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Tecnologia em Inovação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66"/>
    </mc:Choice>
    <mc:Fallback>
      <p:transition spd="slow" advTm="157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52A7F6-A7E9-FE53-EAFF-75CD605AD333}"/>
              </a:ext>
            </a:extLst>
          </p:cNvPr>
          <p:cNvSpPr txBox="1"/>
          <p:nvPr/>
        </p:nvSpPr>
        <p:spPr>
          <a:xfrm>
            <a:off x="542925" y="4986770"/>
            <a:ext cx="11501437" cy="1755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pt-BR" altLang="pt-BR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Comparação com o mesmo período de 2024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Análise: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Calibri"/>
                <a:ea typeface="Calibri"/>
                <a:cs typeface="Times New Roman"/>
              </a:rPr>
              <a:t>O crescimento médio anual entre 2021 e 2024 foi de aproximadamente </a:t>
            </a:r>
            <a:r>
              <a:rPr lang="pt-BR" altLang="pt-BR" sz="2000" b="1" dirty="0">
                <a:solidFill>
                  <a:srgbClr val="00B050"/>
                </a:solidFill>
                <a:latin typeface="Calibri"/>
                <a:ea typeface="Calibri"/>
                <a:cs typeface="Times New Roman"/>
              </a:rPr>
              <a:t>+70%.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alibri"/>
              <a:ea typeface="Calibri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leve queda em 2025 pode ser sazonal ou reflexo de ajustes comerciais.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3B0907D-56CB-752E-2D3B-B4B55615B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061433"/>
              </p:ext>
            </p:extLst>
          </p:nvPr>
        </p:nvGraphicFramePr>
        <p:xfrm>
          <a:off x="2237279" y="1457325"/>
          <a:ext cx="7553799" cy="3330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338">
                  <a:extLst>
                    <a:ext uri="{9D8B030D-6E8A-4147-A177-3AD203B41FA5}">
                      <a16:colId xmlns:a16="http://schemas.microsoft.com/office/drawing/2014/main" val="380054750"/>
                    </a:ext>
                  </a:extLst>
                </a:gridCol>
                <a:gridCol w="2789912">
                  <a:extLst>
                    <a:ext uri="{9D8B030D-6E8A-4147-A177-3AD203B41FA5}">
                      <a16:colId xmlns:a16="http://schemas.microsoft.com/office/drawing/2014/main" val="4047302958"/>
                    </a:ext>
                  </a:extLst>
                </a:gridCol>
                <a:gridCol w="3634589">
                  <a:extLst>
                    <a:ext uri="{9D8B030D-6E8A-4147-A177-3AD203B41FA5}">
                      <a16:colId xmlns:a16="http://schemas.microsoft.com/office/drawing/2014/main" val="2822790316"/>
                    </a:ext>
                  </a:extLst>
                </a:gridCol>
                <a:gridCol w="188960">
                  <a:extLst>
                    <a:ext uri="{9D8B030D-6E8A-4147-A177-3AD203B41FA5}">
                      <a16:colId xmlns:a16="http://schemas.microsoft.com/office/drawing/2014/main" val="473029128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Ano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kern="100" dirty="0">
                          <a:effectLst/>
                        </a:rPr>
                        <a:t>Valor Total Exportado (VL_FOB)</a:t>
                      </a:r>
                      <a:endParaRPr lang="pt-BR" sz="2000" dirty="0"/>
                    </a:p>
                  </a:txBody>
                  <a:tcPr marL="8519" marR="8519" marT="8519" marB="8519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Variação (%)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652645"/>
                  </a:ext>
                </a:extLst>
              </a:tr>
              <a:tr h="3721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2021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12 Bilhões</a:t>
                      </a:r>
                      <a:endParaRPr lang="pt-BR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—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L="81780" marR="81780" marT="40890" marB="40890"/>
                </a:tc>
                <a:extLst>
                  <a:ext uri="{0D108BD9-81ED-4DB2-BD59-A6C34878D82A}">
                    <a16:rowId xmlns:a16="http://schemas.microsoft.com/office/drawing/2014/main" val="1444242183"/>
                  </a:ext>
                </a:extLst>
              </a:tr>
              <a:tr h="527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2022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13 Bilhões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+10,1%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L="81780" marR="81780" marT="40890" marB="40890"/>
                </a:tc>
                <a:extLst>
                  <a:ext uri="{0D108BD9-81ED-4DB2-BD59-A6C34878D82A}">
                    <a16:rowId xmlns:a16="http://schemas.microsoft.com/office/drawing/2014/main" val="2670042420"/>
                  </a:ext>
                </a:extLst>
              </a:tr>
              <a:tr h="5367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2023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17 Bilhões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+30,8%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L="81780" marR="81780" marT="40890" marB="40890"/>
                </a:tc>
                <a:extLst>
                  <a:ext uri="{0D108BD9-81ED-4DB2-BD59-A6C34878D82A}">
                    <a16:rowId xmlns:a16="http://schemas.microsoft.com/office/drawing/2014/main" val="2359644526"/>
                  </a:ext>
                </a:extLst>
              </a:tr>
              <a:tr h="5176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2024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22 Bilhões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+29,4%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L="81780" marR="81780" marT="40890" marB="40890"/>
                </a:tc>
                <a:extLst>
                  <a:ext uri="{0D108BD9-81ED-4DB2-BD59-A6C34878D82A}">
                    <a16:rowId xmlns:a16="http://schemas.microsoft.com/office/drawing/2014/main" val="1307303937"/>
                  </a:ext>
                </a:extLst>
              </a:tr>
              <a:tr h="735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2025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kern="100" dirty="0">
                          <a:effectLst/>
                        </a:rPr>
                        <a:t>12 Bilhões (*até Agosto)</a:t>
                      </a:r>
                      <a:endParaRPr lang="pt-BR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0" i="0" u="none" strike="noStrike" kern="100" noProof="0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—</a:t>
                      </a:r>
                      <a:endParaRPr lang="pt-BR" dirty="0"/>
                    </a:p>
                  </a:txBody>
                  <a:tcPr marL="8519" marR="8519" marT="8519" marB="8519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 marL="81780" marR="81780" marT="40890" marB="40890"/>
                </a:tc>
                <a:extLst>
                  <a:ext uri="{0D108BD9-81ED-4DB2-BD59-A6C34878D82A}">
                    <a16:rowId xmlns:a16="http://schemas.microsoft.com/office/drawing/2014/main" val="1613222810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140042D8-DDA4-06CD-1289-EC85FBB7494F}"/>
              </a:ext>
            </a:extLst>
          </p:cNvPr>
          <p:cNvSpPr txBox="1"/>
          <p:nvPr/>
        </p:nvSpPr>
        <p:spPr>
          <a:xfrm>
            <a:off x="3561160" y="735463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kern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Evolução Anual das Exportações</a:t>
            </a:r>
            <a:endParaRPr lang="pt-BR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91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b="1" dirty="0"/>
              <a:t>Cenário Competitivo</a:t>
            </a:r>
          </a:p>
        </p:txBody>
      </p:sp>
      <p:pic>
        <p:nvPicPr>
          <p:cNvPr id="11" name="Espaço Reservado para Conteúdo 4" descr="Gráfico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398776" y="2994535"/>
            <a:ext cx="4333875" cy="3625353"/>
          </a:xfrm>
          <a:effectLst>
            <a:softEdge rad="317500"/>
          </a:effectLst>
        </p:spPr>
      </p:pic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81BEC297-B410-9D82-5450-79CF30258C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58644736"/>
              </p:ext>
            </p:extLst>
          </p:nvPr>
        </p:nvGraphicFramePr>
        <p:xfrm>
          <a:off x="459349" y="2756426"/>
          <a:ext cx="6479490" cy="3625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7036">
                  <a:extLst>
                    <a:ext uri="{9D8B030D-6E8A-4147-A177-3AD203B41FA5}">
                      <a16:colId xmlns:a16="http://schemas.microsoft.com/office/drawing/2014/main" val="1971324299"/>
                    </a:ext>
                  </a:extLst>
                </a:gridCol>
                <a:gridCol w="2617782">
                  <a:extLst>
                    <a:ext uri="{9D8B030D-6E8A-4147-A177-3AD203B41FA5}">
                      <a16:colId xmlns:a16="http://schemas.microsoft.com/office/drawing/2014/main" val="871822950"/>
                    </a:ext>
                  </a:extLst>
                </a:gridCol>
                <a:gridCol w="2084672">
                  <a:extLst>
                    <a:ext uri="{9D8B030D-6E8A-4147-A177-3AD203B41FA5}">
                      <a16:colId xmlns:a16="http://schemas.microsoft.com/office/drawing/2014/main" val="389175784"/>
                    </a:ext>
                  </a:extLst>
                </a:gridCol>
              </a:tblGrid>
              <a:tr h="72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Código SH4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Produto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Observações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337893065"/>
                  </a:ext>
                </a:extLst>
              </a:tr>
              <a:tr h="72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8802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Aeronaves e helicópteros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Principal item exportado.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463024059"/>
                  </a:ext>
                </a:extLst>
              </a:tr>
              <a:tr h="72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8803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Partes e peças aeronáuticas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Crescimento constante.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338617199"/>
                  </a:ext>
                </a:extLst>
              </a:tr>
              <a:tr h="72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8805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Equipamentos de bordo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Volatilidade por demanda.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890577262"/>
                  </a:ext>
                </a:extLst>
              </a:tr>
              <a:tr h="72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Outros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Componentes eletrônicos etc.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 dirty="0">
                          <a:effectLst/>
                        </a:rPr>
                        <a:t>Exportações pontuais.</a:t>
                      </a:r>
                      <a:endParaRPr lang="pt-B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3" marR="4683" marT="4683" marB="4683" anchor="ctr"/>
                </a:tc>
                <a:extLst>
                  <a:ext uri="{0D108BD9-81ED-4DB2-BD59-A6C34878D82A}">
                    <a16:rowId xmlns:a16="http://schemas.microsoft.com/office/drawing/2014/main" val="170972467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DAAC04B-94DE-0154-E4C1-DA377646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488" y="1975598"/>
            <a:ext cx="11624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Comparações por Produto (SH4)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A4B37-C751-C7AE-8601-1B80005C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73606"/>
            <a:ext cx="11029616" cy="1013800"/>
          </a:xfrm>
        </p:spPr>
        <p:txBody>
          <a:bodyPr/>
          <a:lstStyle/>
          <a:p>
            <a:pPr algn="ctr"/>
            <a:r>
              <a:rPr lang="pt-BR" b="1" dirty="0"/>
              <a:t> Gráfico: Exportações por Região (2021–2025)</a:t>
            </a:r>
            <a:br>
              <a:rPr lang="pt-BR" dirty="0"/>
            </a:b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0A2F03C-7F3C-13F8-04DE-B9C5B30D8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819" y="1925789"/>
            <a:ext cx="7472362" cy="405860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5568797-9A09-1244-28AA-7AB2D3E2A89D}"/>
              </a:ext>
            </a:extLst>
          </p:cNvPr>
          <p:cNvSpPr txBox="1"/>
          <p:nvPr/>
        </p:nvSpPr>
        <p:spPr>
          <a:xfrm>
            <a:off x="695491" y="6327294"/>
            <a:ext cx="11029615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José dos Campos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lidera com folga, sendo responsável por quase metade das exportações do estado.</a:t>
            </a:r>
          </a:p>
        </p:txBody>
      </p:sp>
    </p:spTree>
    <p:extLst>
      <p:ext uri="{BB962C8B-B14F-4D97-AF65-F5344CB8AC3E}">
        <p14:creationId xmlns:p14="http://schemas.microsoft.com/office/powerpoint/2010/main" val="238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A521C-22A0-80A1-D745-7D05938D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72545"/>
            <a:ext cx="11029616" cy="98833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 </a:t>
            </a:r>
            <a:br>
              <a:rPr lang="pt-BR" dirty="0"/>
            </a:br>
            <a:r>
              <a:rPr lang="pt-BR" b="1" dirty="0"/>
              <a:t> Gráfico de Tendência: Exportações Aeronáuticas SP (2021–2025)</a:t>
            </a:r>
            <a:br>
              <a:rPr lang="pt-BR" dirty="0"/>
            </a:b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C980E0-216E-6EE4-B7ED-0ED1ADF269AD}"/>
              </a:ext>
            </a:extLst>
          </p:cNvPr>
          <p:cNvSpPr txBox="1"/>
          <p:nvPr/>
        </p:nvSpPr>
        <p:spPr>
          <a:xfrm>
            <a:off x="8022432" y="275302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Crescimento forte</a:t>
            </a:r>
            <a:r>
              <a:rPr lang="pt-B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entre 2021 e 2024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424230-F4F7-EF7A-6662-A6846AB11707}"/>
              </a:ext>
            </a:extLst>
          </p:cNvPr>
          <p:cNvSpPr txBox="1"/>
          <p:nvPr/>
        </p:nvSpPr>
        <p:spPr>
          <a:xfrm>
            <a:off x="8022432" y="3429000"/>
            <a:ext cx="398842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800" b="1" kern="0" dirty="0">
                <a:effectLst/>
                <a:latin typeface="Calibri"/>
                <a:ea typeface="Calibri"/>
                <a:cs typeface="Times New Roman"/>
              </a:rPr>
              <a:t> Queda</a:t>
            </a:r>
            <a:r>
              <a:rPr lang="pt-BR" b="1" kern="0" dirty="0">
                <a:latin typeface="Calibri"/>
                <a:ea typeface="Calibri"/>
                <a:cs typeface="Times New Roman"/>
              </a:rPr>
              <a:t> </a:t>
            </a:r>
            <a:r>
              <a:rPr lang="pt-BR" sz="1800" kern="0" dirty="0">
                <a:effectLst/>
                <a:latin typeface="Calibri"/>
                <a:ea typeface="Calibri"/>
                <a:cs typeface="Times New Roman"/>
              </a:rPr>
              <a:t>em 2025, que pode ser sazonal ou reflexo de ajustes comerciais</a:t>
            </a:r>
            <a:endParaRPr lang="pt-BR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1B23A9-4559-987B-388B-142A3F068A53}"/>
              </a:ext>
            </a:extLst>
          </p:cNvPr>
          <p:cNvSpPr txBox="1"/>
          <p:nvPr/>
        </p:nvSpPr>
        <p:spPr>
          <a:xfrm>
            <a:off x="8148554" y="4381975"/>
            <a:ext cx="3736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Tendência geral positiva</a:t>
            </a:r>
            <a:endParaRPr lang="pt-BR" dirty="0"/>
          </a:p>
        </p:txBody>
      </p:sp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3D29D5A2-40C1-B482-EF44-7C191206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73" y="2141151"/>
            <a:ext cx="49434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0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C395B-C0FD-8CD1-2203-6F16FD28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GRAFÍCO DE  Tendência de mercado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292ED4D-D3B5-41EE-8543-2A25A67F1B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772982"/>
              </p:ext>
            </p:extLst>
          </p:nvPr>
        </p:nvGraphicFramePr>
        <p:xfrm>
          <a:off x="2232212" y="1833282"/>
          <a:ext cx="8014448" cy="4910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322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BE6F926-10D8-3747-DE27-FB354D453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5DEDBBCE-9442-05D9-335B-967E2ACE3A69}"/>
              </a:ext>
            </a:extLst>
          </p:cNvPr>
          <p:cNvSpPr/>
          <p:nvPr/>
        </p:nvSpPr>
        <p:spPr>
          <a:xfrm>
            <a:off x="163286" y="4659086"/>
            <a:ext cx="653142" cy="520920"/>
          </a:xfrm>
          <a:prstGeom prst="ellipse">
            <a:avLst/>
          </a:prstGeom>
          <a:solidFill>
            <a:srgbClr val="A8517C"/>
          </a:solidFill>
          <a:ln>
            <a:solidFill>
              <a:srgbClr val="A851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pt-br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C12A61-1921-51C0-951F-F7DB8F138421}"/>
              </a:ext>
            </a:extLst>
          </p:cNvPr>
          <p:cNvSpPr txBox="1"/>
          <p:nvPr/>
        </p:nvSpPr>
        <p:spPr>
          <a:xfrm>
            <a:off x="576943" y="4593771"/>
            <a:ext cx="192677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pt-b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Maiores importadores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A87F349-EEF4-9680-07CC-BA287AC9392B}"/>
              </a:ext>
            </a:extLst>
          </p:cNvPr>
          <p:cNvSpPr/>
          <p:nvPr/>
        </p:nvSpPr>
        <p:spPr>
          <a:xfrm>
            <a:off x="283030" y="5540829"/>
            <a:ext cx="413656" cy="315685"/>
          </a:xfrm>
          <a:prstGeom prst="ellipse">
            <a:avLst/>
          </a:prstGeom>
          <a:solidFill>
            <a:srgbClr val="317DA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pt-br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CE1AEC-93E7-30EE-55A6-C98AAEF1BA8D}"/>
              </a:ext>
            </a:extLst>
          </p:cNvPr>
          <p:cNvSpPr txBox="1"/>
          <p:nvPr/>
        </p:nvSpPr>
        <p:spPr>
          <a:xfrm>
            <a:off x="620486" y="5377542"/>
            <a:ext cx="192677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rtl="0">
              <a:defRPr lang="pt-b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>
                <a:solidFill>
                  <a:schemeClr val="bg1"/>
                </a:solidFill>
              </a:rPr>
              <a:t>Importadores secundários</a:t>
            </a:r>
          </a:p>
        </p:txBody>
      </p:sp>
    </p:spTree>
    <p:extLst>
      <p:ext uri="{BB962C8B-B14F-4D97-AF65-F5344CB8AC3E}">
        <p14:creationId xmlns:p14="http://schemas.microsoft.com/office/powerpoint/2010/main" val="276411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â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8" name="Espaço Reservado para Conteúdo 4" descr="Números Digitai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262FC0-697A-1507-366F-806C2E8E54D5}"/>
              </a:ext>
            </a:extLst>
          </p:cNvPr>
          <p:cNvSpPr txBox="1"/>
          <p:nvPr/>
        </p:nvSpPr>
        <p:spPr>
          <a:xfrm>
            <a:off x="498536" y="879584"/>
            <a:ext cx="7285704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pt-BR" sz="3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Conclusão</a:t>
            </a:r>
          </a:p>
          <a:p>
            <a:pPr>
              <a:spcAft>
                <a:spcPts val="800"/>
              </a:spcAft>
              <a:buNone/>
            </a:pPr>
            <a:endParaRPr lang="pt-BR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"/>
            </a:pP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setor aeronáutico paulista apresenta </a:t>
            </a:r>
            <a:r>
              <a:rPr lang="pt-BR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crescimento</a:t>
            </a: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sólido, com destaque para </a:t>
            </a:r>
            <a:r>
              <a:rPr lang="pt-BR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2023 e 2024.</a:t>
            </a:r>
          </a:p>
          <a:p>
            <a:pPr lvl="0"/>
            <a:endParaRPr lang="pt-BR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"/>
            </a:pP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diversificação de produtos exportados </a:t>
            </a: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fortalece a competitividade do setor.</a:t>
            </a:r>
          </a:p>
          <a:p>
            <a:pPr lvl="0"/>
            <a:endParaRPr lang="pt-BR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"/>
            </a:pP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 queda em 2025 </a:t>
            </a: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 ser compensada até o fim do ano.</a:t>
            </a:r>
          </a:p>
          <a:p>
            <a:pPr lvl="0"/>
            <a:endParaRPr lang="pt-BR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Há </a:t>
            </a:r>
            <a:r>
              <a:rPr lang="pt-BR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espaço para expansão </a:t>
            </a:r>
            <a:r>
              <a:rPr lang="pt-BR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produtos de maior valor agregado e novos mercados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Obrigado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0BCD91F2BCEE47898AFCA91EB3B8EE" ma:contentTypeVersion="11" ma:contentTypeDescription="Create a new document." ma:contentTypeScope="" ma:versionID="a13867d938cd83e51c64fc7773763c51">
  <xsd:schema xmlns:xsd="http://www.w3.org/2001/XMLSchema" xmlns:xs="http://www.w3.org/2001/XMLSchema" xmlns:p="http://schemas.microsoft.com/office/2006/metadata/properties" xmlns:ns3="228e6c15-b4a4-4fc4-9389-ffec28000fac" targetNamespace="http://schemas.microsoft.com/office/2006/metadata/properties" ma:root="true" ma:fieldsID="336a8cc4418ba4c465a7f65861df811d" ns3:_="">
    <xsd:import namespace="228e6c15-b4a4-4fc4-9389-ffec28000f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e6c15-b4a4-4fc4-9389-ffec28000f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8e6c15-b4a4-4fc4-9389-ffec28000fac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6153B6-357E-49FC-A32E-9691F2602A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8e6c15-b4a4-4fc4-9389-ffec28000f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28e6c15-b4a4-4fc4-9389-ffec28000fac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Tecnologia (design Dividendo)</Template>
  <TotalTime>657</TotalTime>
  <Words>276</Words>
  <Application>Microsoft Office PowerPoint</Application>
  <PresentationFormat>Widescreen</PresentationFormat>
  <Paragraphs>67</Paragraphs>
  <Slides>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Gill Sans MT</vt:lpstr>
      <vt:lpstr>Wingdings</vt:lpstr>
      <vt:lpstr>Wingdings 2</vt:lpstr>
      <vt:lpstr>Dividendo</vt:lpstr>
      <vt:lpstr>Apresentação do PowerPoint</vt:lpstr>
      <vt:lpstr>Apresentação do PowerPoint</vt:lpstr>
      <vt:lpstr>Cenário Competitivo</vt:lpstr>
      <vt:lpstr> Gráfico: Exportações por Região (2021–2025) </vt:lpstr>
      <vt:lpstr>   Gráfico de Tendência: Exportações Aeronáuticas SP (2021–2025) </vt:lpstr>
      <vt:lpstr>GRAFÍCO DE  Tendência de mercado</vt:lpstr>
      <vt:lpstr>Apresentação do PowerPoint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MELISSA MARA OLIMPIO</dc:creator>
  <cp:lastModifiedBy>MELISSA MARA OLIMPIO</cp:lastModifiedBy>
  <cp:revision>51</cp:revision>
  <dcterms:created xsi:type="dcterms:W3CDTF">2025-10-06T01:44:52Z</dcterms:created>
  <dcterms:modified xsi:type="dcterms:W3CDTF">2025-11-25T03:13:59Z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0x010100950BCD91F2BCEE47898AFCA91EB3B8EE</vt:lpwstr>
  </property>
</Properties>
</file>